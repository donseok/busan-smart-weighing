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731520"/>
            <a:ext cx="3200400" cy="1371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0" y="1005840"/>
            <a:ext cx="2560320" cy="13716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B4D8"/>
                </a:solidFill>
                <a:latin typeface="맑은 고딕"/>
              </a:defRPr>
            </a:pPr>
            <a:r>
              <a:t>BUSAN SMART WEIGHING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부산 스마트 계량 시스템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29184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0E0EF"/>
                </a:solidFill>
                <a:latin typeface="맑은 고딕"/>
              </a:defRPr>
            </a:pPr>
            <a:r>
              <a:t>AI 기반 차량번호 자동인식(LPR) · 실시간 계량 · 전자전표 · 모바일 배차관리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303520"/>
            <a:ext cx="12191695" cy="9144"/>
          </a:xfrm>
          <a:prstGeom prst="rect">
            <a:avLst/>
          </a:prstGeom>
          <a:solidFill>
            <a:srgbClr val="2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맑은 고딕"/>
              </a:defRPr>
            </a:pPr>
            <a:r>
              <a:t>제작 보고서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97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7090"/>
                </a:solidFill>
                <a:latin typeface="맑은 고딕"/>
              </a:defRPr>
            </a:pPr>
            <a:r>
              <a:t>동국제강  |  디지털혁신팀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217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  <a:latin typeface="맑은 고딕"/>
              </a:defRPr>
            </a:pPr>
            <a:r>
              <a:t>2026.01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2560320" cy="365760"/>
          </a:xfrm>
          <a:prstGeom prst="round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6760" y="2377440"/>
            <a:ext cx="2011680" cy="365760"/>
          </a:xfrm>
          <a:prstGeom prst="roundRect">
            <a:avLst/>
          </a:prstGeom>
          <a:solidFill>
            <a:srgbClr val="18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20" y="2926080"/>
            <a:ext cx="2743200" cy="365760"/>
          </a:xfrm>
          <a:prstGeom prst="roundRect">
            <a:avLst/>
          </a:prstGeom>
          <a:solidFill>
            <a:srgbClr val="122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41080" y="3474720"/>
            <a:ext cx="1645920" cy="365760"/>
          </a:xfrm>
          <a:prstGeom prst="roundRect">
            <a:avLst/>
          </a:prstGeom>
          <a:solidFill>
            <a:srgbClr val="1A3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78240" y="4023360"/>
            <a:ext cx="2286000" cy="365760"/>
          </a:xfrm>
          <a:prstGeom prst="roundRect">
            <a:avLst/>
          </a:prstGeom>
          <a:solidFill>
            <a:srgbClr val="14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E0E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A"/>
                </a:solidFill>
                <a:latin typeface="맑은 고딕"/>
              </a:defRPr>
            </a:pPr>
            <a:r>
              <a:t>DONGKUK  |  부산 스마트 계량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2 / 10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1435608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463040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91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맑은 고딕"/>
              </a:defRPr>
            </a:pPr>
            <a:r>
              <a:t>배경, 목적, 추진 범위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1984248"/>
            <a:ext cx="8686800" cy="7315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2093976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12140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0756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시스템 아키텍처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3500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맑은 고딕"/>
              </a:defRPr>
            </a:pPr>
            <a:r>
              <a:t>풀스택 모노레포 구조 및 기술 스택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2642616"/>
            <a:ext cx="8686800" cy="7315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2752344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77977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7340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AI 활용 구현 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008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맑은 고딕"/>
              </a:defRPr>
            </a:pPr>
            <a:r>
              <a:t>LPR 차량번호 자동인식 및 스마트 매칭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3300984"/>
            <a:ext cx="8686800" cy="7315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7280" y="3410712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438144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3392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핵심 기능 소개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66674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맑은 고딕"/>
              </a:defRPr>
            </a:pPr>
            <a:r>
              <a:t>계량, 배차, 출문, 전표, 모니터링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91640" y="3959352"/>
            <a:ext cx="8686800" cy="7315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7280" y="4069080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096512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91640" y="40507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개발 현황 및 품질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43251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맑은 고딕"/>
              </a:defRPr>
            </a:pPr>
            <a:r>
              <a:t>모듈별 개발 규모 및 품질 지표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1640" y="4617720"/>
            <a:ext cx="8686800" cy="7315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7280" y="4727447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4754879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91640" y="470915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기대 효과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49834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맑은 고딕"/>
              </a:defRPr>
            </a:pPr>
            <a:r>
              <a:t>정량적·정성적 도입 효과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691640" y="5276087"/>
            <a:ext cx="8686800" cy="7315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97280" y="5385816"/>
            <a:ext cx="384048" cy="38404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5413248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1640" y="53675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실시간 모니터링 체계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" y="56418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맑은 고딕"/>
              </a:defRPr>
            </a:pPr>
            <a:r>
              <a:t>WebSocket 기반 장비 상태 관리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91640" y="5934456"/>
            <a:ext cx="8686800" cy="7315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7280" y="6044184"/>
            <a:ext cx="384048" cy="384048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6071616"/>
            <a:ext cx="384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91640" y="60258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맑은 고딕"/>
              </a:defRPr>
            </a:pPr>
            <a:r>
              <a:t>향후 추진 계획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63002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E8E93"/>
                </a:solidFill>
                <a:latin typeface="맑은 고딕"/>
              </a:defRPr>
            </a:pPr>
            <a:r>
              <a:t>단계별 고도화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01  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E0EF"/>
                </a:solidFill>
                <a:latin typeface="맑은 고딕"/>
              </a:defRPr>
            </a:pPr>
            <a: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A"/>
                </a:solidFill>
                <a:latin typeface="맑은 고딕"/>
              </a:defRPr>
            </a:pPr>
            <a:r>
              <a:t>DONGKUK  |  부산 스마트 계량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3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530352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71600"/>
            <a:ext cx="5303520" cy="45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추진 배경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11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맑은 고딕"/>
              </a:defRPr>
            </a:pPr>
            <a:r>
              <a:t>▸  기존 수기 기반 계량 프로세스의 비효율성 및 오류 발생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59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맑은 고딕"/>
              </a:defRPr>
            </a:pPr>
            <a:r>
              <a:t>▸  차량 입출문 관리의 보안 취약점 및 데이터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066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맑은 고딕"/>
              </a:defRPr>
            </a:pPr>
            <a:r>
              <a:t>▸  실시간 현황 파악 불가로 의사결정 지연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05409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맑은 고딕"/>
              </a:defRPr>
            </a:pPr>
            <a:r>
              <a:t>▸  전표/보고서 수작업으로 인한 업무 과부하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530352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53035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프로젝트 목적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011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맑은 고딕"/>
              </a:defRPr>
            </a:pPr>
            <a:r>
              <a:t>▸  AI(LPR) 기반 차량 자동 인식으로 무인화 실현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3591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맑은 고딕"/>
              </a:defRPr>
            </a:pPr>
            <a:r>
              <a:t>▸  실시간 계량 데이터 수집 및 전자전표 자동 발행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7066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맑은 고딕"/>
              </a:defRPr>
            </a:pPr>
            <a:r>
              <a:t>▸  WebSocket 기반 실시간 모니터링 대시보드 구축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305409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맑은 고딕"/>
              </a:defRPr>
            </a:pPr>
            <a:r>
              <a:t>▸  모바일 앱을 통한 현장 배차·운송 관리 효율화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0624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256032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4389120"/>
            <a:ext cx="411480" cy="41148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434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Web 관리시스템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React 18 + TypeScript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20개 페이지, 실시간 대시보드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420624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0" y="4206240"/>
            <a:ext cx="2560320" cy="45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66160" y="4389120"/>
            <a:ext cx="411480" cy="41148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434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REST API 서버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Spring Boot 3.2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23개 도메인, JWT 인증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420624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4206240"/>
            <a:ext cx="25603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400800" y="438912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434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모바일 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Flutter 크로스플랫폼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12개 화면, FCM 푸시알림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60" y="4206240"/>
            <a:ext cx="25603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52560" y="4206240"/>
            <a:ext cx="2560320" cy="4572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35440" y="4389120"/>
            <a:ext cx="411480" cy="41148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443484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PC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8408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현장 계량 프로그램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4937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.NET 8 WinForms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5257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시리얼 통신, 오프라인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02  시스템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E0EF"/>
                </a:solidFill>
                <a:latin typeface="맑은 고딕"/>
              </a:defRPr>
            </a:pPr>
            <a:r>
              <a:t>System Architecture — Full-Stack Monorepo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A"/>
                </a:solidFill>
                <a:latin typeface="맑은 고딕"/>
              </a:defRPr>
            </a:pPr>
            <a:r>
              <a:t>DONGKUK  |  부산 스마트 계량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4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828800" cy="10972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클라이언트 계층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371600"/>
            <a:ext cx="2834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4813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React 18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7556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TypeScript, Ant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0116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Vite, ECharts, SockJS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371600"/>
            <a:ext cx="2834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4813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Flutter 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7556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iOS/Android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0116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Provider, Go Router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371600"/>
            <a:ext cx="2834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4813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WinForms Desktop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75564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.NET 8, C#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01168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Serial/TCP, SQLite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46120"/>
            <a:ext cx="1828800" cy="10972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API 게이트웨이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51760" y="3246120"/>
            <a:ext cx="2834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3558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Spring Security + JWT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6301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Access 30분 / Refresh 7일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886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Role: ADMIN, MANAGER, DRIVER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3246120"/>
            <a:ext cx="2834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0" y="33558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CORS / Rate Limiting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6301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도메인 화이트리스트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886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API 키 인증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3246120"/>
            <a:ext cx="2834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33558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WebSocket (STOMP)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63016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SockJS 폴백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88620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실시간 양방향 통신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663440"/>
            <a:ext cx="1828800" cy="109728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비즈니스 로직 계층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51760" y="4663440"/>
            <a:ext cx="2834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4773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23개 도메인 서비스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0474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계량, 배차, 출문, 전표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53035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LPR, 통계, 모니터링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4663440"/>
            <a:ext cx="2834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773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26개 서비스 컴포넌트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0474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비즈니스 규칙 처리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53035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Excel Export (Apache POI)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69680" y="4663440"/>
            <a:ext cx="283464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47731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알림 / 감사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50474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FCM 푸시, 감사 로그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53035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사용자 활동 추적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852160"/>
            <a:ext cx="1828800" cy="50292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897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데이터 계층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51760" y="5806440"/>
            <a:ext cx="28346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4640" y="5833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PostgreSQL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60533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메인 DB (운영)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60720" y="5806440"/>
            <a:ext cx="28346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0" y="5833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Redis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0" y="60533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토큰 캐시 / 블랙리스트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69680" y="5806440"/>
            <a:ext cx="2834640" cy="594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5833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SQLite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0" y="60533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데스크톱 로컬 캐시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0" y="2468880"/>
            <a:ext cx="27432" cy="502920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0" y="2468880"/>
            <a:ext cx="27432" cy="502920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92040" y="27889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5EC"/>
                </a:solidFill>
                <a:latin typeface="맑은 고딕"/>
              </a:defRPr>
            </a:pPr>
            <a:r>
              <a:t>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0" y="4343400"/>
            <a:ext cx="27432" cy="502920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15200" y="4343400"/>
            <a:ext cx="27432" cy="502920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92040" y="46634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0E5EC"/>
                </a:solidFill>
                <a:latin typeface="맑은 고딕"/>
              </a:defRPr>
            </a:pPr>
            <a:r>
              <a:t>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03  AI 활용 구현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E0EF"/>
                </a:solidFill>
                <a:latin typeface="맑은 고딕"/>
              </a:defRPr>
            </a:pPr>
            <a:r>
              <a:t>LPR (License Plate Recognition) 기반 스마트 계량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A"/>
                </a:solidFill>
                <a:latin typeface="맑은 고딕"/>
              </a:defRPr>
            </a:pPr>
            <a:r>
              <a:t>DONGKUK  |  부산 스마트 계량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5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LPR 자동인식 프로세스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01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영상 촬영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계량대 진입 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31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LPR 카메라 자동 촬영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2331720"/>
            <a:ext cx="18288" cy="640080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44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AI 번호판 인식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46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딥러닝 OCR 모델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474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번호판 텍스트 추출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474720"/>
            <a:ext cx="18288" cy="640080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114800"/>
            <a:ext cx="457200" cy="457200"/>
          </a:xfrm>
          <a:prstGeom prst="ellips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87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신뢰도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389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AI 신뢰도 점수 산출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617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임계값 기반 판정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" y="4617720"/>
            <a:ext cx="18288" cy="640080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" y="5257800"/>
            <a:ext cx="457200" cy="4572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30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스마트 매칭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532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배차정보 자동 매칭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760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단일/복수/미등록 분기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1325880"/>
            <a:ext cx="5760720" cy="4937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60720" y="1325880"/>
            <a:ext cx="57607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맑은 고딕"/>
              </a:defRPr>
            </a:pPr>
            <a:r>
              <a:t>스마트 매칭 의사결정 알고리즘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2011680"/>
            <a:ext cx="384048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0" y="2011680"/>
            <a:ext cx="54864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20299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차량번호 인식 완료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225856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AI 신뢰도 점수 산출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2743200"/>
            <a:ext cx="384048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0" y="2743200"/>
            <a:ext cx="54864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27614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차량 마스터 조회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299008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등록 차량 여부 확인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3474720"/>
            <a:ext cx="3840480" cy="50292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58000" y="3474720"/>
            <a:ext cx="54864" cy="502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349300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금일 유효 배차 검색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372160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REGISTERED / IN_PROGRESS 상태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맑은 고딕"/>
              </a:defRPr>
            </a:pPr>
            <a:r>
              <a:t>매칭 결과 분기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4526280"/>
            <a:ext cx="1097280" cy="64008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5537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SINGLE MATCH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846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자동 배차 연결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89520" y="4526280"/>
            <a:ext cx="1097280" cy="640080"/>
          </a:xfrm>
          <a:prstGeom prst="round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0" y="45537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MULTI MATCH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운전자 선택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15400" y="4526280"/>
            <a:ext cx="1097280" cy="6400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15400" y="45537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NO DISPATCH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15400" y="4846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수동 배정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95560" y="4526280"/>
            <a:ext cx="1097280" cy="640080"/>
          </a:xfrm>
          <a:prstGeom prst="roundRect">
            <a:avLst/>
          </a:prstGeom>
          <a:solidFill>
            <a:srgbClr val="FF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95560" y="45537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맑은 고딕"/>
              </a:defRPr>
            </a:pPr>
            <a:r>
              <a:t>NO VEHICLE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95560" y="4846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신규 등록 안내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맑은 고딕"/>
              </a:defRPr>
            </a:pPr>
            <a:r>
              <a:t>AI 도입 핵심 효과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0" y="5669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B"/>
                </a:solidFill>
                <a:latin typeface="맑은 고딕"/>
              </a:defRPr>
            </a:pPr>
            <a:r>
              <a:t>✓  수동 입력 80%+ 감소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5897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E8E93"/>
                </a:solidFill>
                <a:latin typeface="맑은 고딕"/>
              </a:defRPr>
            </a:pPr>
            <a:r>
              <a:t>자동 번호 인식으로 데이터 입력 최소화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5669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B"/>
                </a:solidFill>
                <a:latin typeface="맑은 고딕"/>
              </a:defRPr>
            </a:pPr>
            <a:r>
              <a:t>✓  AI 신뢰도 스코어링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59" y="5897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E8E93"/>
                </a:solidFill>
                <a:latin typeface="맑은 고딕"/>
              </a:defRPr>
            </a:pPr>
            <a:r>
              <a:t>0~100% 정량적 인식 정확도 관리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5669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C97B"/>
                </a:solidFill>
                <a:latin typeface="맑은 고딕"/>
              </a:defRPr>
            </a:pPr>
            <a:r>
              <a:t>✓  무인 계량 실현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66960" y="5897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E8E93"/>
                </a:solidFill>
                <a:latin typeface="맑은 고딕"/>
              </a:defRPr>
            </a:pPr>
            <a:r>
              <a:t>등록 차량 자동 통과 → 인건비 절감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04  핵심 기능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E0EF"/>
                </a:solidFill>
                <a:latin typeface="맑은 고딕"/>
              </a:defRPr>
            </a:pPr>
            <a:r>
              <a:t>Core Features — 계량 · 배차 · 출문 · 전표 · 통계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A"/>
                </a:solidFill>
                <a:latin typeface="맑은 고딕"/>
              </a:defRPr>
            </a:pPr>
            <a:r>
              <a:t>DONGKUK  |  부산 스마트 계량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6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52044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실시간 계량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7452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계량대 중량 실시간 수신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3055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총중량 → 공차 → 순중량 자동계산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8658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재계량 사유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42616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WebSocket 실시간 상태 전파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37160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371600"/>
            <a:ext cx="3520440" cy="45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배차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87452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차량·기사·업체·품목 배정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3055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상태 흐름: 등록→진행→완료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38658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5개 품목유형 분류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642616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즐겨찾기 바로가기 지원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137160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1371600"/>
            <a:ext cx="35204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50876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출문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87452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계량 완료 시 자동 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13055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승인/반려 워크플로우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38658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반려 사유 필수 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642616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미승인 차량 출문 차단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1720" y="384048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31720" y="3840480"/>
            <a:ext cx="3520440" cy="4572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39776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전자전표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34340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계량 완료 시 자동 발행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459943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일련번호: yyyyMMdd-NNNN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485546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카카오/이메일/SMS 공유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5111496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차량·업체·중량 정보 포함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3840480"/>
            <a:ext cx="35204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26480" y="3840480"/>
            <a:ext cx="3520440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39776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맑은 고딕"/>
              </a:defRPr>
            </a:pPr>
            <a:r>
              <a:t>통계·보고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34340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일별/월별 집계 조회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59943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업체별·품목별 필터링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485546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Excel 내보내기 (Apache POI)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111496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ECharts 대시보드 시각화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217920"/>
            <a:ext cx="11247120" cy="36576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2362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E0EF"/>
                </a:solidFill>
                <a:latin typeface="맑은 고딕"/>
              </a:defRPr>
            </a:pPr>
            <a:r>
              <a:t>23개 도메인 모듈  ·  23개 REST API 컨트롤러  ·  26개 서비스 컴포넌트  ·  20개 엔티티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05  개발 현황 및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E0EF"/>
                </a:solidFill>
                <a:latin typeface="맑은 고딕"/>
              </a:defRPr>
            </a:pPr>
            <a:r>
              <a:t>Development Status &amp; Quality 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A"/>
                </a:solidFill>
                <a:latin typeface="맑은 고딕"/>
              </a:defRPr>
            </a:pPr>
            <a:r>
              <a:t>DONGKUK  |  부산 스마트 계량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7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0116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201168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맑은 고딕"/>
              </a:defRPr>
            </a:pPr>
            <a:r>
              <a:t>323+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전체 소스 파일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371600"/>
            <a:ext cx="20116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371600"/>
            <a:ext cx="201168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86AB"/>
                </a:solidFill>
                <a:latin typeface="맑은 고딕"/>
              </a:defRPr>
            </a:pPr>
            <a:r>
              <a:t>207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백엔드 Java 파일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371600"/>
            <a:ext cx="20116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371600"/>
            <a:ext cx="2011680" cy="45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D1B2A"/>
                </a:solidFill>
                <a:latin typeface="맑은 고딕"/>
              </a:defRPr>
            </a:pPr>
            <a:r>
              <a:t>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프론트엔드 TS/TSX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371600"/>
            <a:ext cx="20116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1371600"/>
            <a:ext cx="2011680" cy="4572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77F00"/>
                </a:solidFill>
                <a:latin typeface="맑은 고딕"/>
              </a:defRPr>
            </a:pPr>
            <a:r>
              <a:t>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모바일 Dart 파일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371600"/>
            <a:ext cx="201168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1371600"/>
            <a:ext cx="2011680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1554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C97B"/>
                </a:solidFill>
                <a:latin typeface="맑은 고딕"/>
              </a:defRPr>
            </a:pPr>
            <a:r>
              <a:t>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데스크톱 C# 파일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697480"/>
            <a:ext cx="68580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2697480"/>
            <a:ext cx="6858000" cy="45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맑은 고딕"/>
              </a:defRPr>
            </a:pPr>
            <a:r>
              <a:t>기술 스택 상세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246120"/>
            <a:ext cx="630936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3273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모듈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32735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핵심 기술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3273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빌드/배포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273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규모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657600"/>
            <a:ext cx="630936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2E"/>
                </a:solidFill>
                <a:latin typeface="맑은 고딕"/>
              </a:defRPr>
            </a:pPr>
            <a:r>
              <a:t>Backend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3703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Spring Boot 3.2, JPA, JWT, WebSocket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Gradle / Railway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3703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~50K SLOC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4069080"/>
            <a:ext cx="6309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114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2E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React 18, TypeScript, Ant Design, ECharts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624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Vite / Vercel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4114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~15K SLOC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480560"/>
            <a:ext cx="6309360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526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2E"/>
                </a:solidFill>
                <a:latin typeface="맑은 고딕"/>
              </a:defRPr>
            </a:pPr>
            <a:r>
              <a:t>Mobile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4526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Flutter 3.10, Provider, Dio, FCM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Flutter CLI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4526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~10K SLOC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4892040"/>
            <a:ext cx="63093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4937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A1A2E"/>
                </a:solidFill>
                <a:latin typeface="맑은 고딕"/>
              </a:defRPr>
            </a:pPr>
            <a:r>
              <a:t>Desktop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0" y="4937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.NET 8, WinForms, Serial, SQLite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4937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dotnet CLI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4937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A1A2E"/>
                </a:solidFill>
                <a:latin typeface="맑은 고딕"/>
              </a:defRPr>
            </a:pPr>
            <a:r>
              <a:t>~8K SLOC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89520" y="2697480"/>
            <a:ext cx="41148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89520" y="2697480"/>
            <a:ext cx="4114800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55279" y="2834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맑은 고딕"/>
              </a:defRPr>
            </a:pPr>
            <a:r>
              <a:t>품질 관리 체계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32461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✓  TypeScript Strict Mode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34472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미사용 변수/파라미터 빌드 시 에러 처리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37033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✓  JWT 보안 인증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39044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Access/Refresh 토큰 + Redis 블랙리스트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41605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✓  역할 기반 접근제어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43616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ADMIN · MANAGER · DRIVER 3단계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46177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✓  감사 로그 시스템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0" y="48188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전체 사용자 활동 추적 및 변경 이력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55279" y="50749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✓  AES 데이터 암호화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5276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민감 정보 암호화 저장·전송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79" y="5532120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✓  API 응답 표준화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0" y="57332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ApiResponse&lt;T&gt; 래퍼 + snake_case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06  기대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E0EF"/>
                </a:solidFill>
                <a:latin typeface="맑은 고딕"/>
              </a:defRPr>
            </a:pPr>
            <a:r>
              <a:t>Expected Benefits — 정량적 · 정성적 효과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A"/>
                </a:solidFill>
                <a:latin typeface="맑은 고딕"/>
              </a:defRPr>
            </a:pPr>
            <a:r>
              <a:t>DONGKUK  |  부산 스마트 계량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8 /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정량적 효과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1188720" cy="8229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80%+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수동 입력 감소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2128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LPR AI 자동인식으로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4414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차량번호 수기 입력 제거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63240"/>
            <a:ext cx="1188720" cy="82296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70%+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자동 배차 매칭율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3558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단일 매칭 건 자동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5844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운전자 대기시간 단축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1188720" cy="82296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&lt; 200ms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206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API 응답 속도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4988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Redis 캐싱 + 인덱스 최적화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7274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고속 데이터 처리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49240"/>
            <a:ext cx="1188720" cy="82296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32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99.5%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시스템 가동율 목표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6418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WebSocket 실시간 장비 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87044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5분 주기 헬스체크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맑은 고딕"/>
              </a:defRPr>
            </a:pPr>
            <a:r>
              <a:t>정성적 효과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920240"/>
            <a:ext cx="5303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920240"/>
            <a:ext cx="54864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993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업무 프로세스 혁신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286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수기 → 전자 전표 전환으로 종이 없는 사무실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254203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계량~출문까지 원스톱 자동화 워크플로우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7980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실시간 데이터 기반 의사결정 환경 구축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474720"/>
            <a:ext cx="5303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3474720"/>
            <a:ext cx="54864" cy="128016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547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운영 안정성 강화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840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장비 이상 즉시 감지 및 대응 체계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40965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오프라인 계량 지원으로 무중단 운영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3525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감사 로그를 통한 투명한 업무 관리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029200"/>
            <a:ext cx="53035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5029200"/>
            <a:ext cx="54864" cy="128016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1023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맑은 고딕"/>
              </a:defRPr>
            </a:pPr>
            <a:r>
              <a:t>미래 확장성 확보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5394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모듈식 아키텍처로 신규 기능 유연한 추가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6509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멀티 플랫폼(Web/Mobile/Desktop) 통합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9070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•  AI 고도화(적재량 예측, 이상탐지) 확장 가능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07  실시간 모니터링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E0EF"/>
                </a:solidFill>
                <a:latin typeface="맑은 고딕"/>
              </a:defRPr>
            </a:pPr>
            <a:r>
              <a:t>Real-Time Monitoring — WebSocket + Dashboard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A"/>
                </a:solidFill>
                <a:latin typeface="맑은 고딕"/>
              </a:defRPr>
            </a:pPr>
            <a:r>
              <a:t>DONGKUK  |  부산 스마트 계량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9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54864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54864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맑은 고딕"/>
              </a:defRPr>
            </a:pPr>
            <a:r>
              <a:t>WebSocket 실시간 통신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965960"/>
            <a:ext cx="493776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0116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4D8"/>
                </a:solidFill>
                <a:latin typeface="Consolas"/>
              </a:defRPr>
            </a:pPr>
            <a:r>
              <a:t>/topic/weighing-updates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계량 진행 상태 변경 알림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423160"/>
            <a:ext cx="493776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4688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4D8"/>
                </a:solidFill>
                <a:latin typeface="Consolas"/>
              </a:defRPr>
            </a:pPr>
            <a:r>
              <a:t>/topic/scale-status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468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계량대 연결 상태 변경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80360"/>
            <a:ext cx="493776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926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4D8"/>
                </a:solidFill>
                <a:latin typeface="Consolas"/>
              </a:defRPr>
            </a:pPr>
            <a:r>
              <a:t>/topic/device-status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전체 장비 상태 알림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337560"/>
            <a:ext cx="4937760" cy="36576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383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4D8"/>
                </a:solidFill>
                <a:latin typeface="Consolas"/>
              </a:defRPr>
            </a:pPr>
            <a:r>
              <a:t>/topic/notifications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E8E93"/>
                </a:solidFill>
                <a:latin typeface="맑은 고딕"/>
              </a:defRPr>
            </a:pPr>
            <a:r>
              <a:t>사용자 알림 메시지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325880"/>
            <a:ext cx="54864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325880"/>
            <a:ext cx="5486400" cy="4572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맑은 고딕"/>
              </a:defRPr>
            </a:pPr>
            <a:r>
              <a:t>장비 상태 모니터링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2011680"/>
            <a:ext cx="274320" cy="27432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19842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계량대 (Scale)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시리얼 포트 실시간 중량 수신</a:t>
            </a:r>
          </a:p>
        </p:txBody>
      </p:sp>
      <p:sp>
        <p:nvSpPr>
          <p:cNvPr id="31" name="Oval 30"/>
          <p:cNvSpPr/>
          <p:nvPr/>
        </p:nvSpPr>
        <p:spPr>
          <a:xfrm>
            <a:off x="6492240" y="2468880"/>
            <a:ext cx="274320" cy="274320"/>
          </a:xfrm>
          <a:prstGeom prst="ellipse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24414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차단기 (Barrier)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4688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TCP 소켓 원격 개폐 제어</a:t>
            </a:r>
          </a:p>
        </p:txBody>
      </p:sp>
      <p:sp>
        <p:nvSpPr>
          <p:cNvPr id="34" name="Oval 33"/>
          <p:cNvSpPr/>
          <p:nvPr/>
        </p:nvSpPr>
        <p:spPr>
          <a:xfrm>
            <a:off x="6492240" y="2926080"/>
            <a:ext cx="274320" cy="27432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28986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전광판 (Display)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2926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네트워크 프로토콜 안내 표시</a:t>
            </a:r>
          </a:p>
        </p:txBody>
      </p:sp>
      <p:sp>
        <p:nvSpPr>
          <p:cNvPr id="37" name="Oval 36"/>
          <p:cNvSpPr/>
          <p:nvPr/>
        </p:nvSpPr>
        <p:spPr>
          <a:xfrm>
            <a:off x="6492240" y="3383280"/>
            <a:ext cx="274320" cy="27432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33558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맑은 고딕"/>
              </a:defRPr>
            </a:pPr>
            <a:r>
              <a:t>LPR 카메라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3832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차량번호 촬영 및 인식 전송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맑은 고딕"/>
              </a:defRPr>
            </a:pPr>
            <a:r>
              <a:t>대시보드 분석 항목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709160"/>
            <a:ext cx="20574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709160"/>
            <a:ext cx="20574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8920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금일 계량 현황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1663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총건수 / 완료 / 진행중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42239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실시간 갱신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0" y="4709160"/>
            <a:ext cx="20574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0" y="4709160"/>
            <a:ext cx="2057400" cy="45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26080" y="48920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월간 집계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26080" y="51663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월별 계량건수, 총중량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0" y="542239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전월 대비 증감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0" y="4709160"/>
            <a:ext cx="20574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4709160"/>
            <a:ext cx="2057400" cy="45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12080" y="48920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품목별 분포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51663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부산물, 폐기물, 부자재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542239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수출, 일반 분류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0" y="4709160"/>
            <a:ext cx="20574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15200" y="4709160"/>
            <a:ext cx="2057400" cy="4572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0" y="48920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계량방식 분석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80" y="51663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LPR / OTP / 수동 / 재계량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0" y="542239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자동화 비율 추적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01200" y="4709160"/>
            <a:ext cx="20574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01200" y="4709160"/>
            <a:ext cx="2057400" cy="457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84080" y="489204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맑은 고딕"/>
              </a:defRPr>
            </a:pPr>
            <a:r>
              <a:t>30일 추이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84080" y="5166360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ECharts 일별 차트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84080" y="5422392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트렌드 시각화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맑은 고딕"/>
              </a:defRPr>
            </a:pPr>
            <a:r>
              <a:t>08  향후 추진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E0EF"/>
                </a:solidFill>
                <a:latin typeface="맑은 고딕"/>
              </a:defRPr>
            </a:pPr>
            <a:r>
              <a:t>Future Roadmap — 단계별 고도화 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090AA"/>
                </a:solidFill>
                <a:latin typeface="맑은 고딕"/>
              </a:defRPr>
            </a:pPr>
            <a:r>
              <a:t>DONGKUK  |  부산 스마트 계량 시스템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8E8E93"/>
                </a:solidFill>
                <a:latin typeface="맑은 고딕"/>
              </a:defRPr>
            </a:pPr>
            <a:r>
              <a:t>10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17320"/>
            <a:ext cx="2651760" cy="7772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Phase 1: 안정화 · 최적화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647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2026 Q1~Q2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5E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37744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377440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운영 안정화 및 성능 튜닝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사용자 피드백 반영 UI/UX 개선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83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모바일 앱 정식 배포 (iOS/Android)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현장 계량 프로그램 배포 및 안정화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1417320"/>
            <a:ext cx="2651760" cy="7772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Phase 2: AI 고도화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17647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2026 Q3~Q4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5E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7744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91840" y="2377440"/>
            <a:ext cx="265176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LPR 인식률 고도화 (99%+ 목표)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적재량 예측 AI 모델 개발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383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이상 계량 자동 탐지 시스템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차량 동선 분석 및 최적 경로 제안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417320"/>
            <a:ext cx="2651760" cy="7772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Phase 3: 확장 · 연계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7647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2027 Q1~Q2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1600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5EC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237744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2377440"/>
            <a:ext cx="265176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ERP/SAP 시스템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다중 사업장 통합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383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BI 리포팅 고도화 (Power BI 연동)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IoT 센서 확장 (환경, 안전)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1417320"/>
            <a:ext cx="2651760" cy="777240"/>
          </a:xfrm>
          <a:prstGeom prst="round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1463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Phase 4: 지능화 · 자율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17647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맑은 고딕"/>
              </a:defRPr>
            </a:pPr>
            <a:r>
              <a:t>2027 Q3~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2377440"/>
            <a:ext cx="2651760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0" y="2377440"/>
            <a:ext cx="2651760" cy="36576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완전 무인 계량 운영 체계 구축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예측 정비 (Predictive Maintenance)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3832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디지털 트윈 기반 시뮬레이션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3794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5A"/>
                </a:solidFill>
                <a:latin typeface="맑은 고딕"/>
              </a:defRPr>
            </a:pPr>
            <a:r>
              <a:t>▸  타 사업장 수평 전개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212080"/>
            <a:ext cx="11247120" cy="10972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맑은 고딕"/>
              </a:defRPr>
            </a:pPr>
            <a:r>
              <a:t>핵심 추진 방향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5669280"/>
            <a:ext cx="9418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E0EF"/>
                </a:solidFill>
                <a:latin typeface="맑은 고딕"/>
              </a:defRPr>
            </a:pPr>
            <a:r>
              <a:t>▸  AI 기반 완전 무인 계량 체계 구축으로 운영 인력 최적화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5925312"/>
            <a:ext cx="9418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E0EF"/>
                </a:solidFill>
                <a:latin typeface="맑은 고딕"/>
              </a:defRPr>
            </a:pPr>
            <a:r>
              <a:t>▸  ERP 연동 및 다중 사업장 통합으로 전사 표준 플랫폼 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" y="6181344"/>
            <a:ext cx="9418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E0EF"/>
                </a:solidFill>
                <a:latin typeface="맑은 고딕"/>
              </a:defRPr>
            </a:pPr>
            <a:r>
              <a:t>▸  디지털 트윈 · IoT · 예측 분석 등 스마트 팩토리 기반 기술 확장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